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58" r:id="rId5"/>
    <p:sldId id="26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3275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74374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467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059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55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301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913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8122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8404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94979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8893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7658360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459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2375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5790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3942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60218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8266EF-C7CE-4644-9912-1832B6668AE0}" type="datetimeFigureOut">
              <a:rPr lang="en-IN" smtClean="0"/>
              <a:t>24-03-2026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4A80BF-AE70-49DD-9B88-2E3FE8A86A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96431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F62FD-BE2A-0062-7441-770315A7A4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95269" y="2192593"/>
            <a:ext cx="9001462" cy="1317369"/>
          </a:xfrm>
        </p:spPr>
        <p:txBody>
          <a:bodyPr>
            <a:normAutofit/>
          </a:bodyPr>
          <a:lstStyle/>
          <a:p>
            <a:r>
              <a:rPr lang="en-US" sz="4000" dirty="0"/>
              <a:t>Supply chain Performance Overview – </a:t>
            </a:r>
            <a:r>
              <a:rPr lang="en-US" sz="4000" dirty="0" err="1"/>
              <a:t>atliq</a:t>
            </a:r>
            <a:r>
              <a:rPr lang="en-US" sz="4000" dirty="0"/>
              <a:t> mart</a:t>
            </a:r>
            <a:endParaRPr lang="en-IN" sz="40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15755E-62DE-59A3-1B65-0C8C96158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99164"/>
            <a:ext cx="9001462" cy="1558636"/>
          </a:xfrm>
        </p:spPr>
        <p:txBody>
          <a:bodyPr/>
          <a:lstStyle/>
          <a:p>
            <a:r>
              <a:rPr lang="en-US" dirty="0"/>
              <a:t>Monitoring OT, IF, OTIF, and Fulfillment KPIs Across Cities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0168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4A0C4-219F-8A20-9336-20134E2F6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4" y="545805"/>
            <a:ext cx="10353761" cy="932121"/>
          </a:xfrm>
        </p:spPr>
        <p:txBody>
          <a:bodyPr>
            <a:normAutofit/>
          </a:bodyPr>
          <a:lstStyle/>
          <a:p>
            <a:r>
              <a:rPr lang="en-US" sz="3000" dirty="0"/>
              <a:t>Key Performance Indicators (KPI) Summary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F1C879-FBC5-BA8E-2DD0-17E4A51534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36614"/>
            <a:ext cx="10353762" cy="4309006"/>
          </a:xfrm>
        </p:spPr>
        <p:txBody>
          <a:bodyPr/>
          <a:lstStyle/>
          <a:p>
            <a:r>
              <a:rPr lang="en-US" dirty="0"/>
              <a:t>Over all </a:t>
            </a:r>
            <a:r>
              <a:rPr lang="en-US" b="1" dirty="0"/>
              <a:t>On-Time Delivery (OT%) is 59.03%</a:t>
            </a:r>
            <a:r>
              <a:rPr lang="en-US" dirty="0"/>
              <a:t>, significantly below the target of 86.09%, indicating major delays in deliveries.</a:t>
            </a:r>
          </a:p>
          <a:p>
            <a:r>
              <a:rPr lang="en-US" b="1" dirty="0"/>
              <a:t>In-Full Delivery (IF%) stands at 52.78%</a:t>
            </a:r>
            <a:r>
              <a:rPr lang="en-US" dirty="0"/>
              <a:t>, falling short of the 76.51% target, highlighting issues in order completeness and fulfillment.</a:t>
            </a:r>
          </a:p>
          <a:p>
            <a:r>
              <a:rPr lang="en-US" b="1" dirty="0"/>
              <a:t>OTIF (On-Time In-Full) is critically low at 29.02%</a:t>
            </a:r>
            <a:r>
              <a:rPr lang="en-US" dirty="0"/>
              <a:t>, compared to the 65.91% target, showing combined inefficiencies in both timeliness and completeness.</a:t>
            </a:r>
          </a:p>
          <a:p>
            <a:r>
              <a:rPr lang="en-US" b="1" dirty="0"/>
              <a:t>LIFR% (Line-Item Fill Rate) at 65.96%</a:t>
            </a:r>
            <a:r>
              <a:rPr lang="en-US" dirty="0"/>
              <a:t> indicates moderate fulfillment efficiency but still leaves room for improvement.</a:t>
            </a:r>
          </a:p>
          <a:p>
            <a:r>
              <a:rPr lang="en-US" b="1" dirty="0"/>
              <a:t>VOFR% (Volume Fill Rate) is high at 96.59%</a:t>
            </a:r>
            <a:r>
              <a:rPr lang="en-US" dirty="0"/>
              <a:t>, suggesting overall volume delivery is strong despite issues in timing and completeness.</a:t>
            </a:r>
          </a:p>
        </p:txBody>
      </p:sp>
    </p:spTree>
    <p:extLst>
      <p:ext uri="{BB962C8B-B14F-4D97-AF65-F5344CB8AC3E}">
        <p14:creationId xmlns:p14="http://schemas.microsoft.com/office/powerpoint/2010/main" val="39602526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DD38B2E-68BF-5D69-58EC-B797336C38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98" y="1463994"/>
            <a:ext cx="11610753" cy="3930011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9C4F81D5-DE9A-58DB-13E7-1BA31E428578}"/>
              </a:ext>
            </a:extLst>
          </p:cNvPr>
          <p:cNvSpPr txBox="1">
            <a:spLocks/>
          </p:cNvSpPr>
          <p:nvPr/>
        </p:nvSpPr>
        <p:spPr>
          <a:xfrm>
            <a:off x="1066193" y="432391"/>
            <a:ext cx="10353761" cy="7513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400" b="1" i="0" kern="1200" cap="all">
                <a:solidFill>
                  <a:schemeClr val="tx1"/>
                </a:solidFill>
                <a:effectLst>
                  <a:outerShdw blurRad="50800" dist="63500" dir="2700000" algn="tl" rotWithShape="0">
                    <a:srgbClr val="000000">
                      <a:alpha val="48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/>
              <a:t>City-wise Performance vs Target Analysis</a:t>
            </a:r>
            <a:endParaRPr lang="en-IN" sz="280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654CCB83-C57D-125D-15C7-69BC2229635F}"/>
              </a:ext>
            </a:extLst>
          </p:cNvPr>
          <p:cNvSpPr txBox="1">
            <a:spLocks/>
          </p:cNvSpPr>
          <p:nvPr/>
        </p:nvSpPr>
        <p:spPr>
          <a:xfrm>
            <a:off x="913795" y="5674240"/>
            <a:ext cx="10353762" cy="854151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dirty="0"/>
              <a:t>All cities are underperforming vs targets, with Vadodara showing the lowest performance across OT, IF, and OTIF</a:t>
            </a:r>
          </a:p>
        </p:txBody>
      </p:sp>
    </p:spTree>
    <p:extLst>
      <p:ext uri="{BB962C8B-B14F-4D97-AF65-F5344CB8AC3E}">
        <p14:creationId xmlns:p14="http://schemas.microsoft.com/office/powerpoint/2010/main" val="23587395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C1ADA54-FAE7-3229-9CE4-A8DF79E7E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2918" y="237462"/>
            <a:ext cx="10353761" cy="953386"/>
          </a:xfrm>
        </p:spPr>
        <p:txBody>
          <a:bodyPr>
            <a:normAutofit fontScale="90000"/>
          </a:bodyPr>
          <a:lstStyle/>
          <a:p>
            <a:r>
              <a:rPr lang="en-US" dirty="0"/>
              <a:t>Performance Gap Insights &amp; Action Plan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17CAA-C297-53E5-B47C-8E4BAAAD39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42918" y="1429100"/>
            <a:ext cx="5106004" cy="467036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INSIGHTS</a:t>
            </a:r>
          </a:p>
          <a:p>
            <a:r>
              <a:rPr lang="en-US" sz="1400" dirty="0"/>
              <a:t>All cities (</a:t>
            </a:r>
            <a:r>
              <a:rPr lang="en-US" sz="1400" b="1" dirty="0"/>
              <a:t>Surat, Ahmedabad, Vadodara</a:t>
            </a:r>
            <a:r>
              <a:rPr lang="en-US" sz="1400" dirty="0"/>
              <a:t>) are significantly underperforming against targets across </a:t>
            </a:r>
            <a:r>
              <a:rPr lang="en-US" sz="1400" b="1" dirty="0"/>
              <a:t>OT, IF, and OTIF</a:t>
            </a:r>
            <a:r>
              <a:rPr lang="en-US" sz="1400" dirty="0"/>
              <a:t>, indicating a </a:t>
            </a:r>
            <a:r>
              <a:rPr lang="en-US" sz="1400" b="1" dirty="0"/>
              <a:t>system-wide supply chain issue</a:t>
            </a:r>
            <a:r>
              <a:rPr lang="en-US" sz="1400" dirty="0"/>
              <a:t>.</a:t>
            </a:r>
          </a:p>
          <a:p>
            <a:r>
              <a:rPr lang="en-US" sz="1400" b="1" dirty="0"/>
              <a:t>OT% is ~57–61% vs target ~85%</a:t>
            </a:r>
            <a:r>
              <a:rPr lang="en-US" sz="1400" dirty="0"/>
              <a:t>, showing consistent delays in delivery timelines.</a:t>
            </a:r>
          </a:p>
          <a:p>
            <a:r>
              <a:rPr lang="en-US" sz="1400" b="1" dirty="0"/>
              <a:t>IF% is below target across all cities (~51.5%-54%)</a:t>
            </a:r>
            <a:r>
              <a:rPr lang="en-US" sz="1400" dirty="0"/>
              <a:t>, highlighting gaps in </a:t>
            </a:r>
            <a:r>
              <a:rPr lang="en-US" sz="1400" b="1" dirty="0"/>
              <a:t>inventory availability and order fulfillment</a:t>
            </a:r>
            <a:r>
              <a:rPr lang="en-US" sz="1400" dirty="0"/>
              <a:t>.</a:t>
            </a:r>
          </a:p>
          <a:p>
            <a:r>
              <a:rPr lang="en-US" sz="1400" b="1" dirty="0"/>
              <a:t>OTIF% is critically low (~27–30%)</a:t>
            </a:r>
            <a:r>
              <a:rPr lang="en-US" sz="1400" dirty="0"/>
              <a:t>, reflecting combined inefficiencies in both timeliness and completeness.</a:t>
            </a:r>
          </a:p>
          <a:p>
            <a:r>
              <a:rPr lang="en-US" sz="1400" b="1" dirty="0"/>
              <a:t>Vadodara is the worst-performing city</a:t>
            </a:r>
            <a:r>
              <a:rPr lang="en-US" sz="1400" dirty="0"/>
              <a:t>, consistently showing the lowest performance across all KPIs, the larger gap in Vadodara suggests </a:t>
            </a:r>
            <a:r>
              <a:rPr lang="en-US" sz="1400" b="1" dirty="0"/>
              <a:t>additional localized operational inefficiencies</a:t>
            </a:r>
            <a:r>
              <a:rPr lang="en-US" sz="1400" dirty="0"/>
              <a:t>.</a:t>
            </a:r>
          </a:p>
          <a:p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27F5642-394A-44F5-7D25-9869162C23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2525" y="1429100"/>
            <a:ext cx="5094154" cy="4429440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b="1" dirty="0"/>
              <a:t>SOLUTIONS</a:t>
            </a:r>
          </a:p>
          <a:p>
            <a:r>
              <a:rPr lang="en-US" sz="1400" dirty="0"/>
              <a:t>Improve </a:t>
            </a:r>
            <a:r>
              <a:rPr lang="en-US" sz="1400" b="1" dirty="0"/>
              <a:t>demand forecasting and inventory planning</a:t>
            </a:r>
            <a:r>
              <a:rPr lang="en-US" sz="1400" dirty="0"/>
              <a:t> to reduce stock shortages and improve IF%.</a:t>
            </a:r>
          </a:p>
          <a:p>
            <a:r>
              <a:rPr lang="en-US" sz="1400" dirty="0"/>
              <a:t>Optimize </a:t>
            </a:r>
            <a:r>
              <a:rPr lang="en-US" sz="1400" b="1" dirty="0"/>
              <a:t>delivery routes and scheduling</a:t>
            </a:r>
            <a:r>
              <a:rPr lang="en-US" sz="1400" dirty="0"/>
              <a:t> to minimize delays and improve OT%.</a:t>
            </a:r>
          </a:p>
          <a:p>
            <a:r>
              <a:rPr lang="en-US" sz="1400" dirty="0"/>
              <a:t>Conduct a </a:t>
            </a:r>
            <a:r>
              <a:rPr lang="en-US" sz="1400" b="1" dirty="0"/>
              <a:t>deep-dive analysis for Vadodara operations</a:t>
            </a:r>
            <a:r>
              <a:rPr lang="en-US" sz="1400" dirty="0"/>
              <a:t> (warehouse, dispatch, last-mile delivery).</a:t>
            </a:r>
          </a:p>
          <a:p>
            <a:r>
              <a:rPr lang="en-US" sz="1400" dirty="0"/>
              <a:t>Implement </a:t>
            </a:r>
            <a:r>
              <a:rPr lang="en-US" sz="1400" b="1" dirty="0"/>
              <a:t>real-time tracking and monitoring systems</a:t>
            </a:r>
            <a:r>
              <a:rPr lang="en-US" sz="1400" dirty="0"/>
              <a:t> for faster issue resolution.</a:t>
            </a:r>
          </a:p>
          <a:p>
            <a:r>
              <a:rPr lang="en-US" sz="1400" dirty="0"/>
              <a:t>Align teams around </a:t>
            </a:r>
            <a:r>
              <a:rPr lang="en-US" sz="1400" b="1" dirty="0"/>
              <a:t>OTIF as the primary KPI</a:t>
            </a:r>
            <a:r>
              <a:rPr lang="en-US" sz="1400" dirty="0"/>
              <a:t> to improve end-to-end performance.</a:t>
            </a:r>
          </a:p>
          <a:p>
            <a:r>
              <a:rPr lang="en-US" sz="1400" dirty="0"/>
              <a:t>Vadodara requires immediate operational focus, while overall improvements are needed across the entire supply chain.</a:t>
            </a:r>
          </a:p>
          <a:p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235533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157D8-95F7-6EAA-248C-7C390CF02C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2059" y="1673081"/>
            <a:ext cx="11107882" cy="1655762"/>
          </a:xfrm>
        </p:spPr>
        <p:txBody>
          <a:bodyPr/>
          <a:lstStyle/>
          <a:p>
            <a:r>
              <a:rPr lang="en-US" dirty="0"/>
              <a:t>Operational performance and delivery insights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AA4A6C-5B2E-770D-A21B-33A325645B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95269" y="3647209"/>
            <a:ext cx="9001462" cy="1042698"/>
          </a:xfrm>
        </p:spPr>
        <p:txBody>
          <a:bodyPr/>
          <a:lstStyle/>
          <a:p>
            <a:r>
              <a:rPr lang="en-US" dirty="0"/>
              <a:t>Identifying Underperforming Stores, Delivery Failures, and Service Gaps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37483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F4ED3-65E2-6378-409B-3B817B793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249382"/>
            <a:ext cx="10353761" cy="1059873"/>
          </a:xfrm>
        </p:spPr>
        <p:txBody>
          <a:bodyPr/>
          <a:lstStyle/>
          <a:p>
            <a:r>
              <a:rPr lang="en-US" dirty="0"/>
              <a:t>Order proportion by delivery status</a:t>
            </a:r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2F94680-A527-BF5F-DA70-F1ACFFFA108B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1107" y="1309255"/>
            <a:ext cx="5559136" cy="3744191"/>
          </a:xfrm>
          <a:prstGeom prst="rect">
            <a:avLst/>
          </a:prstGeom>
        </p:spPr>
      </p:pic>
      <p:sp>
        <p:nvSpPr>
          <p:cNvPr id="11" name="Subtitle 2">
            <a:extLst>
              <a:ext uri="{FF2B5EF4-FFF2-40B4-BE49-F238E27FC236}">
                <a16:creationId xmlns:a16="http://schemas.microsoft.com/office/drawing/2014/main" id="{D37529A0-D26E-71D6-8C67-D1B32D14C18C}"/>
              </a:ext>
            </a:extLst>
          </p:cNvPr>
          <p:cNvSpPr txBox="1">
            <a:spLocks/>
          </p:cNvSpPr>
          <p:nvPr/>
        </p:nvSpPr>
        <p:spPr>
          <a:xfrm>
            <a:off x="1468847" y="5718465"/>
            <a:ext cx="9001462" cy="495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Around </a:t>
            </a:r>
            <a:r>
              <a:rPr lang="en-US" sz="1800" b="1" dirty="0"/>
              <a:t>59%</a:t>
            </a:r>
            <a:r>
              <a:rPr lang="en-US" sz="1800" dirty="0"/>
              <a:t> of orders are delivered on or before time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12987335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32CF5-99F4-5C66-345C-5DBA327A1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803564"/>
          </a:xfrm>
        </p:spPr>
        <p:txBody>
          <a:bodyPr>
            <a:normAutofit/>
          </a:bodyPr>
          <a:lstStyle/>
          <a:p>
            <a:r>
              <a:rPr lang="en-US" sz="3000" dirty="0"/>
              <a:t>Delivery status insights and action plan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634B1-BD30-8E95-F42E-F43572EA53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74073" y="1631121"/>
            <a:ext cx="5656375" cy="3834497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b="1" dirty="0"/>
              <a:t>INSIGHTS</a:t>
            </a:r>
          </a:p>
          <a:p>
            <a:r>
              <a:rPr lang="en-US" dirty="0"/>
              <a:t>Only </a:t>
            </a:r>
            <a:r>
              <a:rPr lang="en-US" b="1" dirty="0"/>
              <a:t>48.5% of orders are delivered on time</a:t>
            </a:r>
            <a:r>
              <a:rPr lang="en-US" dirty="0"/>
              <a:t>, indicating room for improvement.</a:t>
            </a:r>
          </a:p>
          <a:p>
            <a:r>
              <a:rPr lang="en-US" dirty="0"/>
              <a:t>Around</a:t>
            </a:r>
            <a:r>
              <a:rPr lang="en-US" b="1" dirty="0"/>
              <a:t> 41% of orders are delayed</a:t>
            </a:r>
            <a:r>
              <a:rPr lang="en-US" dirty="0"/>
              <a:t>, reflecting inefficiencies in delivery operations</a:t>
            </a:r>
          </a:p>
          <a:p>
            <a:r>
              <a:rPr lang="en-US" dirty="0"/>
              <a:t>Fast deliveries account for only around </a:t>
            </a:r>
            <a:r>
              <a:rPr lang="en-US" b="1" dirty="0"/>
              <a:t>10.5% </a:t>
            </a:r>
            <a:r>
              <a:rPr lang="en-US" dirty="0"/>
              <a:t>indicating lack of operational efficiency.</a:t>
            </a:r>
            <a:endParaRPr lang="en-US" b="1" dirty="0"/>
          </a:p>
          <a:p>
            <a:r>
              <a:rPr lang="en-IN" dirty="0"/>
              <a:t>The late delivery rates are almost similar for all the cities</a:t>
            </a:r>
            <a:r>
              <a:rPr lang="en-IN" b="1" dirty="0"/>
              <a:t>(38.8%-42%) </a:t>
            </a:r>
            <a:r>
              <a:rPr lang="en-IN" dirty="0"/>
              <a:t>with </a:t>
            </a:r>
            <a:r>
              <a:rPr lang="en-IN" b="1" dirty="0"/>
              <a:t>Vadodara and Ahmedabad </a:t>
            </a:r>
            <a:r>
              <a:rPr lang="en-IN" dirty="0"/>
              <a:t>performing slightly worse, indicating</a:t>
            </a:r>
            <a:r>
              <a:rPr lang="en-IN" b="1" dirty="0"/>
              <a:t> system-wide issues </a:t>
            </a:r>
            <a:r>
              <a:rPr lang="en-IN" dirty="0"/>
              <a:t>rather than city-specific issues.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AB10DF-BF65-82F2-2DF9-368349DED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401" y="1631121"/>
            <a:ext cx="5547543" cy="3834497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b="1" dirty="0"/>
              <a:t>SOLUTIONS</a:t>
            </a:r>
          </a:p>
          <a:p>
            <a:r>
              <a:rPr lang="en-US" dirty="0"/>
              <a:t>The business should look for the optimization of </a:t>
            </a:r>
            <a:r>
              <a:rPr lang="en-US" b="1" dirty="0"/>
              <a:t>delivery routes </a:t>
            </a:r>
            <a:r>
              <a:rPr lang="en-US" dirty="0"/>
              <a:t>to reduce transit time and delays.</a:t>
            </a:r>
          </a:p>
          <a:p>
            <a:r>
              <a:rPr lang="en-US" dirty="0"/>
              <a:t>Improve </a:t>
            </a:r>
            <a:r>
              <a:rPr lang="en-US" b="1" dirty="0"/>
              <a:t>warehouse and dispatch efficiency </a:t>
            </a:r>
            <a:r>
              <a:rPr lang="en-US" dirty="0"/>
              <a:t>to minimize processing delays.</a:t>
            </a:r>
          </a:p>
          <a:p>
            <a:r>
              <a:rPr lang="en-US" dirty="0"/>
              <a:t>Increase the </a:t>
            </a:r>
            <a:r>
              <a:rPr lang="en-US" b="1" dirty="0"/>
              <a:t>delivery workforce </a:t>
            </a:r>
            <a:r>
              <a:rPr lang="en-US" dirty="0"/>
              <a:t>in underperforming areas specially in </a:t>
            </a:r>
            <a:r>
              <a:rPr lang="en-US" b="1" dirty="0"/>
              <a:t>Vadodara and Ahmedabad</a:t>
            </a:r>
            <a:r>
              <a:rPr lang="en-US" dirty="0"/>
              <a:t> to make the delivery process efficient. </a:t>
            </a:r>
          </a:p>
          <a:p>
            <a:r>
              <a:rPr lang="en-US" dirty="0"/>
              <a:t>Implement </a:t>
            </a:r>
            <a:r>
              <a:rPr lang="en-US" b="1" dirty="0"/>
              <a:t>real-time tracking and monitoring</a:t>
            </a:r>
            <a:r>
              <a:rPr lang="en-US" dirty="0"/>
              <a:t> to quickly address the delay reason.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02200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98F622-5466-60E9-E78D-36B07DE32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01782"/>
            <a:ext cx="10353761" cy="824345"/>
          </a:xfrm>
        </p:spPr>
        <p:txBody>
          <a:bodyPr/>
          <a:lstStyle/>
          <a:p>
            <a:r>
              <a:rPr lang="en-US" dirty="0"/>
              <a:t>Order proportion per category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70DF9BC-BA9B-3FC2-B86B-C5EC081A1E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6100" y="1453935"/>
            <a:ext cx="5579918" cy="386621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501FF61E-57D5-DE43-C123-4B83EF16856E}"/>
              </a:ext>
            </a:extLst>
          </p:cNvPr>
          <p:cNvSpPr txBox="1">
            <a:spLocks/>
          </p:cNvSpPr>
          <p:nvPr/>
        </p:nvSpPr>
        <p:spPr>
          <a:xfrm>
            <a:off x="1468847" y="5718465"/>
            <a:ext cx="9001462" cy="495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Most of the orders contain the Dairy category products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27970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EC53C9-F839-7A6E-0F17-7490CD2DC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824345"/>
          </a:xfrm>
        </p:spPr>
        <p:txBody>
          <a:bodyPr>
            <a:normAutofit/>
          </a:bodyPr>
          <a:lstStyle/>
          <a:p>
            <a:r>
              <a:rPr lang="en-US" sz="3000" dirty="0"/>
              <a:t>Product Category Insights and Solutions</a:t>
            </a:r>
            <a:endParaRPr lang="en-IN" sz="3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47C2D-CCC4-DD77-1B39-86AEE0A627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2282" y="1561593"/>
            <a:ext cx="5426316" cy="401275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INSIGHTS</a:t>
            </a:r>
          </a:p>
          <a:p>
            <a:r>
              <a:rPr lang="en-US" sz="1800" b="1" dirty="0"/>
              <a:t>Dairy</a:t>
            </a:r>
            <a:r>
              <a:rPr lang="en-US" sz="1800" dirty="0"/>
              <a:t> products account for around </a:t>
            </a:r>
            <a:r>
              <a:rPr lang="en-US" sz="1800" b="1" dirty="0"/>
              <a:t>59.3% </a:t>
            </a:r>
            <a:r>
              <a:rPr lang="en-US" sz="1800" dirty="0"/>
              <a:t>of total orders, indicating high demand in the market.</a:t>
            </a:r>
          </a:p>
          <a:p>
            <a:r>
              <a:rPr lang="en-US" sz="1800" dirty="0"/>
              <a:t>The order rates are almost similar for the </a:t>
            </a:r>
            <a:r>
              <a:rPr lang="en-US" sz="1800" b="1" dirty="0"/>
              <a:t>Food and Beverages(~20.5%), </a:t>
            </a:r>
            <a:r>
              <a:rPr lang="en-US" sz="1800" dirty="0"/>
              <a:t>which has significantly lower demand as compared to the </a:t>
            </a:r>
            <a:r>
              <a:rPr lang="en-US" sz="1800" b="1" dirty="0"/>
              <a:t>Dairy.</a:t>
            </a:r>
          </a:p>
          <a:p>
            <a:r>
              <a:rPr lang="en-US" sz="1800" dirty="0"/>
              <a:t>Lower contribution of </a:t>
            </a:r>
            <a:r>
              <a:rPr lang="en-US" sz="1800" b="1" dirty="0"/>
              <a:t>Food</a:t>
            </a:r>
            <a:r>
              <a:rPr lang="en-US" sz="1800" dirty="0"/>
              <a:t> and </a:t>
            </a:r>
            <a:r>
              <a:rPr lang="en-US" sz="1800" b="1" dirty="0"/>
              <a:t>Beverages</a:t>
            </a:r>
            <a:r>
              <a:rPr lang="en-US" sz="1800" dirty="0"/>
              <a:t> indicates growth potential.</a:t>
            </a:r>
            <a:r>
              <a:rPr lang="en-US" sz="1800" b="1" dirty="0"/>
              <a:t> </a:t>
            </a:r>
          </a:p>
          <a:p>
            <a:r>
              <a:rPr lang="en-US" sz="1800" dirty="0"/>
              <a:t>The order distribution is highly skewed towards </a:t>
            </a:r>
            <a:r>
              <a:rPr lang="en-US" sz="1800" b="1" dirty="0"/>
              <a:t>Dairy</a:t>
            </a:r>
            <a:r>
              <a:rPr lang="en-US" sz="1800" dirty="0"/>
              <a:t> indicating single category demand in the market.</a:t>
            </a:r>
            <a:endParaRPr lang="en-US" dirty="0"/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0EEA47-48AA-E7E2-66C3-DAB3371A0B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402" y="1577559"/>
            <a:ext cx="5426316" cy="4012750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SOLUTIONS</a:t>
            </a:r>
          </a:p>
          <a:p>
            <a:r>
              <a:rPr lang="en-US" sz="1800" dirty="0"/>
              <a:t>Ensure </a:t>
            </a:r>
            <a:r>
              <a:rPr lang="en-US" sz="1800" b="1" dirty="0"/>
              <a:t>strong inventory </a:t>
            </a:r>
            <a:r>
              <a:rPr lang="en-US" sz="1800" dirty="0"/>
              <a:t>for </a:t>
            </a:r>
            <a:r>
              <a:rPr lang="en-US" sz="1800" b="1" dirty="0"/>
              <a:t>Dairy products </a:t>
            </a:r>
            <a:r>
              <a:rPr lang="en-US" sz="1800" dirty="0"/>
              <a:t>to </a:t>
            </a:r>
            <a:r>
              <a:rPr lang="en-US" sz="1800" b="1" dirty="0"/>
              <a:t>prevent stockout </a:t>
            </a:r>
            <a:r>
              <a:rPr lang="en-US" sz="1800" dirty="0"/>
              <a:t>and meet high demand.</a:t>
            </a:r>
          </a:p>
          <a:p>
            <a:r>
              <a:rPr lang="en-US" sz="1800" dirty="0"/>
              <a:t>Promote </a:t>
            </a:r>
            <a:r>
              <a:rPr lang="en-US" sz="1800" b="1" dirty="0"/>
              <a:t>discounts and offers </a:t>
            </a:r>
            <a:r>
              <a:rPr lang="en-US" sz="1800" dirty="0"/>
              <a:t>for</a:t>
            </a:r>
            <a:r>
              <a:rPr lang="en-US" sz="1800" b="1" dirty="0"/>
              <a:t>  Food </a:t>
            </a:r>
            <a:r>
              <a:rPr lang="en-US" sz="1800" dirty="0"/>
              <a:t>and</a:t>
            </a:r>
            <a:r>
              <a:rPr lang="en-US" sz="1800" b="1" dirty="0"/>
              <a:t> Beverages</a:t>
            </a:r>
            <a:r>
              <a:rPr lang="en-US" sz="1800" dirty="0"/>
              <a:t> products to increase their shares in the market.</a:t>
            </a:r>
          </a:p>
          <a:p>
            <a:r>
              <a:rPr lang="en-US" sz="1800" dirty="0"/>
              <a:t>Introduce </a:t>
            </a:r>
            <a:r>
              <a:rPr lang="en-US" sz="1800" b="1" dirty="0"/>
              <a:t>bundle-products</a:t>
            </a:r>
            <a:r>
              <a:rPr lang="en-US" sz="1800" dirty="0"/>
              <a:t>(</a:t>
            </a:r>
            <a:r>
              <a:rPr lang="en-US" sz="1800" b="1" dirty="0"/>
              <a:t>Food</a:t>
            </a:r>
            <a:r>
              <a:rPr lang="en-US" sz="1800" dirty="0"/>
              <a:t> and </a:t>
            </a:r>
            <a:r>
              <a:rPr lang="en-US" sz="1800" b="1" dirty="0"/>
              <a:t>Beverages</a:t>
            </a:r>
            <a:r>
              <a:rPr lang="en-US" sz="1800" dirty="0"/>
              <a:t>) to </a:t>
            </a:r>
            <a:r>
              <a:rPr lang="en-US" sz="1800" b="1" dirty="0"/>
              <a:t>boost cross-category sales</a:t>
            </a:r>
            <a:r>
              <a:rPr lang="en-US" sz="1800" dirty="0"/>
              <a:t>.</a:t>
            </a:r>
          </a:p>
          <a:p>
            <a:r>
              <a:rPr lang="en-US" sz="1800" b="1" dirty="0"/>
              <a:t>Expand product variety </a:t>
            </a:r>
            <a:r>
              <a:rPr lang="en-US" sz="1800" dirty="0"/>
              <a:t>in </a:t>
            </a:r>
            <a:r>
              <a:rPr lang="en-US" sz="1800" b="1" dirty="0"/>
              <a:t>Food</a:t>
            </a:r>
            <a:r>
              <a:rPr lang="en-US" sz="1800" dirty="0"/>
              <a:t> and </a:t>
            </a:r>
            <a:r>
              <a:rPr lang="en-US" sz="1800" b="1" dirty="0"/>
              <a:t>Beverages</a:t>
            </a:r>
            <a:r>
              <a:rPr lang="en-US" sz="1800" dirty="0"/>
              <a:t> to attract more customers.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5027545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30BAA-7CFC-10EC-186A-15FFA0AC0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12173"/>
            <a:ext cx="10353761" cy="762000"/>
          </a:xfrm>
        </p:spPr>
        <p:txBody>
          <a:bodyPr>
            <a:normAutofit/>
          </a:bodyPr>
          <a:lstStyle/>
          <a:p>
            <a:r>
              <a:rPr lang="en-US" sz="3000" dirty="0"/>
              <a:t>OTIF(On-time In-full) failure breakdown</a:t>
            </a:r>
            <a:endParaRPr lang="en-IN" sz="3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14E9C0-62BC-2BC1-1C05-03B79E446C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6822" y="1437296"/>
            <a:ext cx="5538353" cy="3778939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84442447-EE3E-64DB-4FF0-F5E8A3C52722}"/>
              </a:ext>
            </a:extLst>
          </p:cNvPr>
          <p:cNvSpPr txBox="1">
            <a:spLocks/>
          </p:cNvSpPr>
          <p:nvPr/>
        </p:nvSpPr>
        <p:spPr>
          <a:xfrm>
            <a:off x="1468847" y="5718465"/>
            <a:ext cx="9001462" cy="4953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/>
              <a:t>Incomplete deliveries impact the most in the failure of OTIF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8894193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AF37C-098A-2DEF-1985-1DEA4194E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710045"/>
          </a:xfrm>
        </p:spPr>
        <p:txBody>
          <a:bodyPr/>
          <a:lstStyle/>
          <a:p>
            <a:r>
              <a:rPr lang="en-US" dirty="0"/>
              <a:t>OTIF failure insights and solutions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30BE4E-894F-954C-9659-725F6C72FF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1863" y="1693464"/>
            <a:ext cx="5406735" cy="370288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INSIGHTS</a:t>
            </a:r>
          </a:p>
          <a:p>
            <a:r>
              <a:rPr lang="en-US" sz="1800" b="1" dirty="0"/>
              <a:t>Incomplete deliveries </a:t>
            </a:r>
            <a:r>
              <a:rPr lang="en-US" sz="1800" dirty="0"/>
              <a:t>are the </a:t>
            </a:r>
            <a:r>
              <a:rPr lang="en-US" sz="1800" b="1" dirty="0"/>
              <a:t>primary issue (~42.3%)</a:t>
            </a:r>
            <a:r>
              <a:rPr lang="en-US" sz="1800" dirty="0"/>
              <a:t>, contributing the highest share of OTIF failures, indicating the issues in inventory and order fulfillment.</a:t>
            </a:r>
          </a:p>
          <a:p>
            <a:r>
              <a:rPr lang="en-US" sz="1800" b="1" dirty="0"/>
              <a:t>Late deliveries </a:t>
            </a:r>
            <a:r>
              <a:rPr lang="en-US" sz="1800" dirty="0"/>
              <a:t>account for around 33.5% indicating a significant concern in OTIF failures, indicating the issues in the delivery process.</a:t>
            </a:r>
          </a:p>
          <a:p>
            <a:r>
              <a:rPr lang="en-US" sz="1800" dirty="0"/>
              <a:t>Around</a:t>
            </a:r>
            <a:r>
              <a:rPr lang="en-US" sz="1800" b="1" dirty="0"/>
              <a:t> 24.2% </a:t>
            </a:r>
            <a:r>
              <a:rPr lang="en-US" sz="1800" dirty="0"/>
              <a:t>of failures are due to </a:t>
            </a:r>
            <a:r>
              <a:rPr lang="en-US" sz="1800" b="1" dirty="0"/>
              <a:t>both late and incomplete deliveries</a:t>
            </a:r>
            <a:r>
              <a:rPr lang="en-US" sz="1800" dirty="0"/>
              <a:t>, reflecting combined operational inefficiencies.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A207C9-EA08-5A2A-09E1-6E3E0203A6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404" y="1693464"/>
            <a:ext cx="5495588" cy="3702881"/>
          </a:xfrm>
        </p:spPr>
        <p:txBody>
          <a:bodyPr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b="1" dirty="0"/>
              <a:t>SOLUTIONS</a:t>
            </a:r>
          </a:p>
          <a:p>
            <a:r>
              <a:rPr lang="en-US" sz="1800" dirty="0"/>
              <a:t>Ensure adequate inventory levels to prevent stockout of products to reduce incomplete deliveries.</a:t>
            </a:r>
          </a:p>
          <a:p>
            <a:r>
              <a:rPr lang="en-US" sz="1800" dirty="0"/>
              <a:t>Optimize </a:t>
            </a:r>
            <a:r>
              <a:rPr lang="en-US" sz="1800" b="1" dirty="0"/>
              <a:t>operational inefficiency </a:t>
            </a:r>
            <a:r>
              <a:rPr lang="en-US" sz="1800" dirty="0"/>
              <a:t>specially in </a:t>
            </a:r>
            <a:r>
              <a:rPr lang="en-US" sz="1800" b="1" dirty="0"/>
              <a:t>routes</a:t>
            </a:r>
            <a:r>
              <a:rPr lang="en-US" sz="1800" dirty="0"/>
              <a:t>, </a:t>
            </a:r>
            <a:r>
              <a:rPr lang="en-US" sz="1800" b="1" dirty="0"/>
              <a:t>warehouses</a:t>
            </a:r>
            <a:r>
              <a:rPr lang="en-US" sz="1800" dirty="0"/>
              <a:t> and </a:t>
            </a:r>
            <a:r>
              <a:rPr lang="en-US" sz="1800" b="1" dirty="0"/>
              <a:t>workforce</a:t>
            </a:r>
            <a:r>
              <a:rPr lang="en-US" sz="1800" dirty="0"/>
              <a:t> to reduce delivery delays.</a:t>
            </a:r>
          </a:p>
          <a:p>
            <a:r>
              <a:rPr lang="en-US" sz="1800" dirty="0"/>
              <a:t>Implement</a:t>
            </a:r>
            <a:r>
              <a:rPr lang="en-US" sz="1800" b="1" dirty="0"/>
              <a:t> real-time monitoring systems</a:t>
            </a:r>
            <a:r>
              <a:rPr lang="en-US" sz="1800" dirty="0"/>
              <a:t> to quickly identify and resolve delivery issues</a:t>
            </a:r>
          </a:p>
        </p:txBody>
      </p:sp>
    </p:spTree>
    <p:extLst>
      <p:ext uri="{BB962C8B-B14F-4D97-AF65-F5344CB8AC3E}">
        <p14:creationId xmlns:p14="http://schemas.microsoft.com/office/powerpoint/2010/main" val="38196432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8136F-F8C2-2ED7-DCC0-FC297F977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119" y="464128"/>
            <a:ext cx="10353761" cy="751609"/>
          </a:xfrm>
        </p:spPr>
        <p:txBody>
          <a:bodyPr/>
          <a:lstStyle/>
          <a:p>
            <a:r>
              <a:rPr lang="en-US" dirty="0"/>
              <a:t>Customer performance breakdown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1D89DF-73D5-A3B2-ABB5-2482F08A4D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4789" y="1656206"/>
            <a:ext cx="6712729" cy="3185958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A9531DBA-C408-8CC1-39C5-EE777F71715F}"/>
              </a:ext>
            </a:extLst>
          </p:cNvPr>
          <p:cNvSpPr txBox="1">
            <a:spLocks/>
          </p:cNvSpPr>
          <p:nvPr/>
        </p:nvSpPr>
        <p:spPr>
          <a:xfrm>
            <a:off x="1489629" y="5282632"/>
            <a:ext cx="9001462" cy="1305203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>
                  <a:outerShdw blurRad="50800" dist="38100" dir="2700000" algn="tl" rotWithShape="0">
                    <a:srgbClr val="000000">
                      <a:alpha val="48000"/>
                    </a:srgb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err="1"/>
              <a:t>Coolblue</a:t>
            </a:r>
            <a:r>
              <a:rPr lang="en-US" sz="1800" dirty="0"/>
              <a:t>, Acclaimed Stores, and Lotus Mart show the lowest performance in On-Time Delivery, while Elite Mart, </a:t>
            </a:r>
            <a:r>
              <a:rPr lang="en-US" sz="1800" dirty="0" err="1"/>
              <a:t>Sorefoz</a:t>
            </a:r>
            <a:r>
              <a:rPr lang="en-US" sz="1800" dirty="0"/>
              <a:t> Mart, and Vijay Stores underperform in terms of complete deliveries.</a:t>
            </a:r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2549100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D64FD17-7369-84C1-0F68-02CDE43F0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332508"/>
            <a:ext cx="10353761" cy="706584"/>
          </a:xfrm>
        </p:spPr>
        <p:txBody>
          <a:bodyPr>
            <a:normAutofit/>
          </a:bodyPr>
          <a:lstStyle/>
          <a:p>
            <a:r>
              <a:rPr lang="en-US" sz="2600" dirty="0"/>
              <a:t>Customer performance insights and solutions</a:t>
            </a:r>
            <a:endParaRPr lang="en-IN" sz="26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7A4C6-A52D-20E8-17E6-0771B1AA98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59773" y="1039093"/>
            <a:ext cx="5758826" cy="52058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INSIGHTS</a:t>
            </a:r>
          </a:p>
          <a:p>
            <a:r>
              <a:rPr lang="en-US" sz="1200" b="1" dirty="0" err="1"/>
              <a:t>Coolblue</a:t>
            </a:r>
            <a:r>
              <a:rPr lang="en-US" sz="1200" b="1" dirty="0"/>
              <a:t>, Acclaimed Stores</a:t>
            </a:r>
            <a:r>
              <a:rPr lang="en-US" sz="1200" dirty="0"/>
              <a:t>, and </a:t>
            </a:r>
            <a:r>
              <a:rPr lang="en-US" sz="1200" b="1" dirty="0"/>
              <a:t>Lotus Mart </a:t>
            </a:r>
            <a:r>
              <a:rPr lang="en-US" sz="1200" dirty="0"/>
              <a:t>have the lowest </a:t>
            </a:r>
            <a:r>
              <a:rPr lang="en-US" sz="1200" b="1" dirty="0"/>
              <a:t>On-Time Delivery </a:t>
            </a:r>
            <a:r>
              <a:rPr lang="en-US" sz="1200" dirty="0"/>
              <a:t>rates </a:t>
            </a:r>
            <a:r>
              <a:rPr lang="en-US" sz="1200" b="1" dirty="0"/>
              <a:t>(~29%), </a:t>
            </a:r>
            <a:r>
              <a:rPr lang="en-US" sz="1200" dirty="0"/>
              <a:t>highlighting </a:t>
            </a:r>
            <a:r>
              <a:rPr lang="en-US" sz="1200" b="1" dirty="0"/>
              <a:t>operational inefficiencies</a:t>
            </a:r>
            <a:r>
              <a:rPr lang="en-US" sz="1200" dirty="0"/>
              <a:t>.</a:t>
            </a:r>
          </a:p>
          <a:p>
            <a:r>
              <a:rPr lang="en-US" sz="1200" b="1" dirty="0"/>
              <a:t>Elite Mart, </a:t>
            </a:r>
            <a:r>
              <a:rPr lang="en-US" sz="1200" b="1" dirty="0" err="1"/>
              <a:t>Sorefoz</a:t>
            </a:r>
            <a:r>
              <a:rPr lang="en-US" sz="1200" b="1" dirty="0"/>
              <a:t> Mart</a:t>
            </a:r>
            <a:r>
              <a:rPr lang="en-US" sz="1200" dirty="0"/>
              <a:t>, and </a:t>
            </a:r>
            <a:r>
              <a:rPr lang="en-US" sz="1200" b="1" dirty="0"/>
              <a:t>Vijay Stores </a:t>
            </a:r>
            <a:r>
              <a:rPr lang="en-US" sz="1200" dirty="0"/>
              <a:t>have the lowest </a:t>
            </a:r>
            <a:r>
              <a:rPr lang="en-US" sz="1200" b="1" dirty="0"/>
              <a:t>In-Full Delivery </a:t>
            </a:r>
            <a:r>
              <a:rPr lang="en-US" sz="1200" dirty="0"/>
              <a:t>Rates (~38%-45%), indicating </a:t>
            </a:r>
            <a:r>
              <a:rPr lang="en-US" sz="1200" b="1" dirty="0"/>
              <a:t>inventory management inefficiencies</a:t>
            </a:r>
            <a:r>
              <a:rPr lang="en-US" sz="1200" dirty="0"/>
              <a:t>.</a:t>
            </a:r>
          </a:p>
          <a:p>
            <a:r>
              <a:rPr lang="en-US" sz="1200" b="1" dirty="0" err="1"/>
              <a:t>Sorefoz</a:t>
            </a:r>
            <a:r>
              <a:rPr lang="en-US" sz="1200" b="1" dirty="0"/>
              <a:t> Mart </a:t>
            </a:r>
            <a:r>
              <a:rPr lang="en-US" sz="1200" dirty="0"/>
              <a:t>and </a:t>
            </a:r>
            <a:r>
              <a:rPr lang="en-US" sz="1200" b="1" dirty="0"/>
              <a:t>Lotus Mart </a:t>
            </a:r>
            <a:r>
              <a:rPr lang="en-US" sz="1200" dirty="0"/>
              <a:t>have the lowest In-Full Delivery rates in </a:t>
            </a:r>
            <a:r>
              <a:rPr lang="en-US" sz="1200" b="1" dirty="0"/>
              <a:t>Ahmedabad</a:t>
            </a:r>
            <a:r>
              <a:rPr lang="en-US" sz="1200" dirty="0"/>
              <a:t> </a:t>
            </a:r>
            <a:r>
              <a:rPr lang="en-US" sz="1200" b="1" dirty="0"/>
              <a:t>(~17%–24%), </a:t>
            </a:r>
            <a:r>
              <a:rPr lang="en-US" sz="1200" dirty="0"/>
              <a:t>whereas they perform significantly better </a:t>
            </a:r>
            <a:r>
              <a:rPr lang="en-US" sz="1200" b="1" dirty="0"/>
              <a:t>(~60%–68%) </a:t>
            </a:r>
            <a:r>
              <a:rPr lang="en-US" sz="1200" dirty="0"/>
              <a:t>in other cities, indicating </a:t>
            </a:r>
            <a:r>
              <a:rPr lang="en-US" sz="1200" b="1" dirty="0"/>
              <a:t>inventory management inefficiencies </a:t>
            </a:r>
            <a:r>
              <a:rPr lang="en-US" sz="1200" dirty="0"/>
              <a:t>in </a:t>
            </a:r>
            <a:r>
              <a:rPr lang="en-US" sz="1200" b="1" dirty="0"/>
              <a:t>Ahmedabad </a:t>
            </a:r>
            <a:r>
              <a:rPr lang="en-US" sz="1200" dirty="0"/>
              <a:t>for these customers.</a:t>
            </a:r>
          </a:p>
          <a:p>
            <a:r>
              <a:rPr lang="en-US" sz="1200" b="1" dirty="0"/>
              <a:t>Info Stores</a:t>
            </a:r>
            <a:r>
              <a:rPr lang="en-US" sz="1200" dirty="0"/>
              <a:t> and </a:t>
            </a:r>
            <a:r>
              <a:rPr lang="en-US" sz="1200" b="1" dirty="0"/>
              <a:t>Acclaimed Stores </a:t>
            </a:r>
            <a:r>
              <a:rPr lang="en-US" sz="1200" dirty="0"/>
              <a:t>have the lowest In-Full Delivery rates in </a:t>
            </a:r>
            <a:r>
              <a:rPr lang="en-US" sz="1200" b="1" dirty="0"/>
              <a:t>Surat</a:t>
            </a:r>
            <a:r>
              <a:rPr lang="en-US" sz="1200" dirty="0"/>
              <a:t> </a:t>
            </a:r>
            <a:r>
              <a:rPr lang="en-US" sz="1200" b="1" dirty="0"/>
              <a:t>(~19%–22.5%), </a:t>
            </a:r>
            <a:r>
              <a:rPr lang="en-US" sz="1200" dirty="0"/>
              <a:t>whereas they perform significantly better </a:t>
            </a:r>
            <a:r>
              <a:rPr lang="en-US" sz="1200" b="1" dirty="0"/>
              <a:t>(~63%–67%) </a:t>
            </a:r>
            <a:r>
              <a:rPr lang="en-US" sz="1200" dirty="0"/>
              <a:t>in other cities, </a:t>
            </a:r>
            <a:r>
              <a:rPr lang="en-US" sz="1200" b="1" dirty="0"/>
              <a:t>indicating inventory management inefficiencies </a:t>
            </a:r>
            <a:r>
              <a:rPr lang="en-US" sz="1200" dirty="0"/>
              <a:t>in </a:t>
            </a:r>
            <a:r>
              <a:rPr lang="en-US" sz="1200" b="1" dirty="0"/>
              <a:t>Surat </a:t>
            </a:r>
            <a:r>
              <a:rPr lang="en-US" sz="1200" dirty="0"/>
              <a:t>for these customers.</a:t>
            </a:r>
          </a:p>
          <a:p>
            <a:r>
              <a:rPr lang="en-IN" sz="1200" b="1" dirty="0"/>
              <a:t>Elite Mart, Vijay Stores</a:t>
            </a:r>
            <a:r>
              <a:rPr lang="en-IN" sz="1200" dirty="0"/>
              <a:t>, and </a:t>
            </a:r>
            <a:r>
              <a:rPr lang="en-IN" sz="1200" b="1" dirty="0" err="1"/>
              <a:t>Coolblue</a:t>
            </a:r>
            <a:r>
              <a:rPr lang="en-IN" sz="1200" dirty="0"/>
              <a:t> have the lowest In-Full Delivery rates in </a:t>
            </a:r>
            <a:r>
              <a:rPr lang="en-IN" sz="1200" b="1" dirty="0"/>
              <a:t>Vadodara</a:t>
            </a:r>
            <a:r>
              <a:rPr lang="en-IN" sz="1200" dirty="0"/>
              <a:t> </a:t>
            </a:r>
            <a:r>
              <a:rPr lang="en-IN" sz="1200" b="1" dirty="0"/>
              <a:t>(~16.5%–22.25%). </a:t>
            </a:r>
            <a:r>
              <a:rPr lang="en-IN" sz="1200" dirty="0"/>
              <a:t>In contrast, </a:t>
            </a:r>
            <a:r>
              <a:rPr lang="en-IN" sz="1200" b="1" dirty="0"/>
              <a:t>Elite</a:t>
            </a:r>
            <a:r>
              <a:rPr lang="en-IN" sz="1200" dirty="0"/>
              <a:t> </a:t>
            </a:r>
            <a:r>
              <a:rPr lang="en-IN" sz="1200" b="1" dirty="0"/>
              <a:t>Mart</a:t>
            </a:r>
            <a:r>
              <a:rPr lang="en-IN" sz="1200" dirty="0"/>
              <a:t> and </a:t>
            </a:r>
            <a:r>
              <a:rPr lang="en-IN" sz="1200" b="1" dirty="0"/>
              <a:t>Vijay Stores </a:t>
            </a:r>
            <a:r>
              <a:rPr lang="en-IN" sz="1200" dirty="0"/>
              <a:t>perform at average levels </a:t>
            </a:r>
            <a:r>
              <a:rPr lang="en-IN" sz="1200" b="1" dirty="0"/>
              <a:t>(~58%) </a:t>
            </a:r>
            <a:r>
              <a:rPr lang="en-IN" sz="1200" dirty="0"/>
              <a:t>in other cities, while </a:t>
            </a:r>
            <a:r>
              <a:rPr lang="en-IN" sz="1200" b="1" dirty="0" err="1"/>
              <a:t>Coolblue</a:t>
            </a:r>
            <a:r>
              <a:rPr lang="en-IN" sz="1200" dirty="0"/>
              <a:t> achieves its best performance in </a:t>
            </a:r>
            <a:r>
              <a:rPr lang="en-IN" sz="1200" b="1" dirty="0"/>
              <a:t>Ahmedabad</a:t>
            </a:r>
            <a:r>
              <a:rPr lang="en-IN" sz="1200" dirty="0"/>
              <a:t> </a:t>
            </a:r>
            <a:r>
              <a:rPr lang="en-IN" sz="1200" b="1" dirty="0"/>
              <a:t>(~67.2%), </a:t>
            </a:r>
            <a:r>
              <a:rPr lang="en-IN" sz="1200" dirty="0"/>
              <a:t>highlighting </a:t>
            </a:r>
            <a:r>
              <a:rPr lang="en-IN" sz="1200" b="1" dirty="0"/>
              <a:t>inventory management inefficiencies</a:t>
            </a:r>
            <a:r>
              <a:rPr lang="en-IN" sz="1200" dirty="0"/>
              <a:t> in </a:t>
            </a:r>
            <a:r>
              <a:rPr lang="en-IN" sz="1200" b="1" dirty="0"/>
              <a:t>Vadodara</a:t>
            </a:r>
            <a:r>
              <a:rPr lang="en-IN" sz="1200" dirty="0"/>
              <a:t> for these Customers.</a:t>
            </a:r>
            <a:endParaRPr lang="en-US" sz="1200" dirty="0"/>
          </a:p>
          <a:p>
            <a:endParaRPr lang="en-IN" sz="12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B985A9E-EC37-98C0-2FB1-3C987DC367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402" y="1039092"/>
            <a:ext cx="5748176" cy="5205844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/>
              <a:t>SOLUTIONS</a:t>
            </a:r>
          </a:p>
          <a:p>
            <a:r>
              <a:rPr lang="en-US" sz="1200" dirty="0"/>
              <a:t>The business should focus on improving </a:t>
            </a:r>
            <a:r>
              <a:rPr lang="en-US" sz="1200" b="1" dirty="0"/>
              <a:t>operational efficiency </a:t>
            </a:r>
            <a:r>
              <a:rPr lang="en-US" sz="1200" dirty="0"/>
              <a:t>by optimizing </a:t>
            </a:r>
            <a:r>
              <a:rPr lang="en-US" sz="1200" b="1" dirty="0"/>
              <a:t>delivery routes</a:t>
            </a:r>
            <a:r>
              <a:rPr lang="en-US" sz="1200" dirty="0"/>
              <a:t>, </a:t>
            </a:r>
            <a:r>
              <a:rPr lang="en-US" sz="1200" b="1" dirty="0"/>
              <a:t>workforce management</a:t>
            </a:r>
            <a:r>
              <a:rPr lang="en-US" sz="1200" dirty="0"/>
              <a:t>, and </a:t>
            </a:r>
            <a:r>
              <a:rPr lang="en-US" sz="1200" b="1" dirty="0"/>
              <a:t>dispatch processes </a:t>
            </a:r>
            <a:r>
              <a:rPr lang="en-US" sz="1200" dirty="0"/>
              <a:t>to reduce delivery delays for </a:t>
            </a:r>
            <a:r>
              <a:rPr lang="en-US" sz="1200" b="1" dirty="0" err="1"/>
              <a:t>Coolblue</a:t>
            </a:r>
            <a:r>
              <a:rPr lang="en-US" sz="1200" b="1" dirty="0"/>
              <a:t>, Acclaimed Stores and Lotus Mart </a:t>
            </a:r>
            <a:r>
              <a:rPr lang="en-US" sz="1200" dirty="0"/>
              <a:t>customers.</a:t>
            </a:r>
          </a:p>
          <a:p>
            <a:r>
              <a:rPr lang="en-US" sz="1200" dirty="0"/>
              <a:t>The business should optimize </a:t>
            </a:r>
            <a:r>
              <a:rPr lang="en-US" sz="1200" b="1" dirty="0"/>
              <a:t>inventory planning </a:t>
            </a:r>
            <a:r>
              <a:rPr lang="en-US" sz="1200" dirty="0"/>
              <a:t>and</a:t>
            </a:r>
            <a:r>
              <a:rPr lang="en-US" sz="1200" b="1" dirty="0"/>
              <a:t> stock allocation</a:t>
            </a:r>
            <a:r>
              <a:rPr lang="en-US" sz="1200" dirty="0"/>
              <a:t> in different cities for </a:t>
            </a:r>
            <a:r>
              <a:rPr lang="en-US" sz="1200" b="1" dirty="0"/>
              <a:t>Elite Mart, </a:t>
            </a:r>
            <a:r>
              <a:rPr lang="en-US" sz="1200" b="1" dirty="0" err="1"/>
              <a:t>Sorefoz</a:t>
            </a:r>
            <a:r>
              <a:rPr lang="en-US" sz="1200" b="1" dirty="0"/>
              <a:t> Mart</a:t>
            </a:r>
            <a:r>
              <a:rPr lang="en-US" sz="1200" dirty="0"/>
              <a:t>, and </a:t>
            </a:r>
            <a:r>
              <a:rPr lang="en-US" sz="1200" b="1" dirty="0"/>
              <a:t>Vijay Stores </a:t>
            </a:r>
            <a:r>
              <a:rPr lang="en-US" sz="1200" dirty="0"/>
              <a:t>to improve In-Full delivery performances.</a:t>
            </a:r>
          </a:p>
          <a:p>
            <a:r>
              <a:rPr lang="en-IN" sz="1200" dirty="0"/>
              <a:t>The business should ensure adequate inventory levels across </a:t>
            </a:r>
            <a:r>
              <a:rPr lang="en-IN" sz="1200" b="1" dirty="0"/>
              <a:t>Ahmedabad (</a:t>
            </a:r>
            <a:r>
              <a:rPr lang="en-IN" sz="1200" b="1" dirty="0" err="1"/>
              <a:t>Sorefoz</a:t>
            </a:r>
            <a:r>
              <a:rPr lang="en-IN" sz="1200" b="1" dirty="0"/>
              <a:t> Mart, Lotus Mart)</a:t>
            </a:r>
            <a:r>
              <a:rPr lang="en-IN" sz="1200" dirty="0"/>
              <a:t>, </a:t>
            </a:r>
            <a:r>
              <a:rPr lang="en-IN" sz="1200" b="1" dirty="0"/>
              <a:t>Surat (Info Stores, Acclaimed Stores)</a:t>
            </a:r>
            <a:r>
              <a:rPr lang="en-IN" sz="1200" dirty="0"/>
              <a:t>, and </a:t>
            </a:r>
            <a:r>
              <a:rPr lang="en-IN" sz="1200" b="1" dirty="0"/>
              <a:t>Vadodara (Elite Mart, Vijay Stores, </a:t>
            </a:r>
            <a:r>
              <a:rPr lang="en-IN" sz="1200" b="1" dirty="0" err="1"/>
              <a:t>Coolblue</a:t>
            </a:r>
            <a:r>
              <a:rPr lang="en-IN" sz="1200" b="1" dirty="0"/>
              <a:t>)</a:t>
            </a:r>
            <a:r>
              <a:rPr lang="en-IN" sz="1200" dirty="0"/>
              <a:t> to minimize stockouts of products, improve In-Full Delivery, and enhance customer satisfaction.</a:t>
            </a:r>
          </a:p>
        </p:txBody>
      </p:sp>
    </p:spTree>
    <p:extLst>
      <p:ext uri="{BB962C8B-B14F-4D97-AF65-F5344CB8AC3E}">
        <p14:creationId xmlns:p14="http://schemas.microsoft.com/office/powerpoint/2010/main" val="148618057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Damask">
      <a:majorFont>
        <a:latin typeface="Bookman Old Style" panose="02050604050505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TM04033921[[fn=Damask]]</Template>
  <TotalTime>514</TotalTime>
  <Words>1166</Words>
  <Application>Microsoft Office PowerPoint</Application>
  <PresentationFormat>Widescreen</PresentationFormat>
  <Paragraphs>76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Bookman Old Style</vt:lpstr>
      <vt:lpstr>Rockwell</vt:lpstr>
      <vt:lpstr>Damask</vt:lpstr>
      <vt:lpstr>Supply chain Performance Overview – atliq mart</vt:lpstr>
      <vt:lpstr>Key Performance Indicators (KPI) Summary</vt:lpstr>
      <vt:lpstr>PowerPoint Presentation</vt:lpstr>
      <vt:lpstr>Performance Gap Insights &amp; Action Plan</vt:lpstr>
      <vt:lpstr>Operational performance and delivery insights</vt:lpstr>
      <vt:lpstr>Order proportion by delivery status</vt:lpstr>
      <vt:lpstr>Delivery status insights and action plan</vt:lpstr>
      <vt:lpstr>Order proportion per category</vt:lpstr>
      <vt:lpstr>Product Category Insights and Solutions</vt:lpstr>
      <vt:lpstr>OTIF(On-time In-full) failure breakdown</vt:lpstr>
      <vt:lpstr>OTIF failure insights and solutions</vt:lpstr>
      <vt:lpstr>Customer performance breakdown</vt:lpstr>
      <vt:lpstr>Customer performance insights and solutions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AYON DAS</dc:creator>
  <cp:lastModifiedBy>AYON DAS</cp:lastModifiedBy>
  <cp:revision>64</cp:revision>
  <dcterms:created xsi:type="dcterms:W3CDTF">2026-03-18T08:24:42Z</dcterms:created>
  <dcterms:modified xsi:type="dcterms:W3CDTF">2026-03-24T16:35:51Z</dcterms:modified>
</cp:coreProperties>
</file>